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30699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in Python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94360" y="3886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definitions to decorators — writing clean, reusable, and powerful code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94360" y="4663440"/>
            <a:ext cx="0" cy="0"/>
          </a:xfrm>
          <a:prstGeom prst="line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594360" y="5760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Workshop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concepts, examples, and best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203704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2677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10312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&amp; Calling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06624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807208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8712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706624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&amp; Arguments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310128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410712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4747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310128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&amp; Keyword Args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3913632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8368" y="4014216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07822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913632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&amp; **kwargs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4517136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8368" y="461772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68172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4517136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48640" y="5120640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58368" y="5221224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528523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43000" y="512064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Local, Global, Nonlocal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548640" y="5724144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58368" y="5824728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5888736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43000" y="5724144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6309360" y="2103120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419088" y="2203704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2267712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03720" y="210312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400" dirty="0"/>
          </a:p>
        </p:txBody>
      </p:sp>
      <p:sp>
        <p:nvSpPr>
          <p:cNvPr id="37" name="Shape 27"/>
          <p:cNvSpPr/>
          <p:nvPr/>
        </p:nvSpPr>
        <p:spPr>
          <a:xfrm>
            <a:off x="6309360" y="2706624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6419088" y="2807208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3096" y="2871216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903720" y="2706624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Functions</a:t>
            </a:r>
            <a:endParaRPr lang="en-US" sz="1400" dirty="0"/>
          </a:p>
        </p:txBody>
      </p:sp>
      <p:sp>
        <p:nvSpPr>
          <p:cNvPr id="41" name="Shape 30"/>
          <p:cNvSpPr/>
          <p:nvPr/>
        </p:nvSpPr>
        <p:spPr>
          <a:xfrm>
            <a:off x="6309360" y="3310128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6419088" y="3410712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3096" y="3474720"/>
            <a:ext cx="237744" cy="23774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903720" y="3310128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&amp; Type Hints</a:t>
            </a:r>
            <a:endParaRPr lang="en-US" sz="1400" dirty="0"/>
          </a:p>
        </p:txBody>
      </p:sp>
      <p:sp>
        <p:nvSpPr>
          <p:cNvPr id="45" name="Shape 33"/>
          <p:cNvSpPr/>
          <p:nvPr/>
        </p:nvSpPr>
        <p:spPr>
          <a:xfrm>
            <a:off x="6309360" y="3913632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6419088" y="4014216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3096" y="4078224"/>
            <a:ext cx="237744" cy="237744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903720" y="3913632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&amp; Decorators</a:t>
            </a:r>
            <a:endParaRPr lang="en-US" sz="1400" dirty="0"/>
          </a:p>
        </p:txBody>
      </p:sp>
      <p:sp>
        <p:nvSpPr>
          <p:cNvPr id="49" name="Shape 36"/>
          <p:cNvSpPr/>
          <p:nvPr/>
        </p:nvSpPr>
        <p:spPr>
          <a:xfrm>
            <a:off x="6309360" y="4517136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6419088" y="461772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3096" y="4681728"/>
            <a:ext cx="237744" cy="237744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903720" y="4517136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(yield)</a:t>
            </a:r>
            <a:endParaRPr lang="en-US" sz="1400" dirty="0"/>
          </a:p>
        </p:txBody>
      </p:sp>
      <p:sp>
        <p:nvSpPr>
          <p:cNvPr id="53" name="Shape 39"/>
          <p:cNvSpPr/>
          <p:nvPr/>
        </p:nvSpPr>
        <p:spPr>
          <a:xfrm>
            <a:off x="6309360" y="5120640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4" name="Shape 40"/>
          <p:cNvSpPr/>
          <p:nvPr/>
        </p:nvSpPr>
        <p:spPr>
          <a:xfrm>
            <a:off x="6419088" y="5221224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3096" y="5285232"/>
            <a:ext cx="237744" cy="237744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6903720" y="512064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57" name="Shape 42"/>
          <p:cNvSpPr/>
          <p:nvPr/>
        </p:nvSpPr>
        <p:spPr>
          <a:xfrm>
            <a:off x="6309360" y="5724144"/>
            <a:ext cx="53035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8" name="Shape 43"/>
          <p:cNvSpPr/>
          <p:nvPr/>
        </p:nvSpPr>
        <p:spPr>
          <a:xfrm>
            <a:off x="6419088" y="5824728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3096" y="5888736"/>
            <a:ext cx="237744" cy="237744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6903720" y="5724144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400" dirty="0"/>
          </a:p>
        </p:txBody>
      </p:sp>
      <p:sp>
        <p:nvSpPr>
          <p:cNvPr id="61" name="Text 4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Function?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760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named, reusable block of code that performs a specific task.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let you avoid repeating code, organize logic, and break complex problems into smaller pieces.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built-in functions (print(), len()) and lets you define your own.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2103120"/>
            <a:ext cx="4937760" cy="3383280"/>
          </a:xfrm>
          <a:prstGeom prst="roundRect">
            <a:avLst>
              <a:gd name="adj" fmla="val 270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233172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"""Say hello to someone"""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f"Hello, {name}!"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print(greet("World"))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World!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Function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calculate_area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length, width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length * width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12140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4160520"/>
            <a:ext cx="1792224" cy="3657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42793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keyword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48006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the function definition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88920" y="3977640"/>
            <a:ext cx="212140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53512" y="4160520"/>
            <a:ext cx="1792224" cy="3657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3" name="Text 11"/>
          <p:cNvSpPr/>
          <p:nvPr/>
        </p:nvSpPr>
        <p:spPr>
          <a:xfrm>
            <a:off x="2953512" y="42793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name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53512" y="48006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calculate_area — descriptive, snake_case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0" y="3977640"/>
            <a:ext cx="212140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93792" y="4160520"/>
            <a:ext cx="1792224" cy="36576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7" name="Text 15"/>
          <p:cNvSpPr/>
          <p:nvPr/>
        </p:nvSpPr>
        <p:spPr>
          <a:xfrm>
            <a:off x="5193792" y="42793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93792" y="48006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width — placeholders for input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69480" y="3977640"/>
            <a:ext cx="212140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34072" y="4160520"/>
            <a:ext cx="1792224" cy="3657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1" name="Text 19"/>
          <p:cNvSpPr/>
          <p:nvPr/>
        </p:nvSpPr>
        <p:spPr>
          <a:xfrm>
            <a:off x="7434072" y="42793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body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34072" y="48006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Indented code that runs when called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0" y="3977640"/>
            <a:ext cx="212140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74352" y="4160520"/>
            <a:ext cx="1792224" cy="3657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5" name="Text 23"/>
          <p:cNvSpPr/>
          <p:nvPr/>
        </p:nvSpPr>
        <p:spPr>
          <a:xfrm>
            <a:off x="9674352" y="427939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statement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74352" y="48006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value back to the caller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vs. Calling a Function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EAF2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551176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4505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68680" y="31546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function with def — writing its name, parameters, and body.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function does NOT run it.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68680" y="42976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square(n):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17920" y="224028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8E1"/>
          </a:solidFill>
          <a:ln/>
        </p:spPr>
      </p:sp>
      <p:sp>
        <p:nvSpPr>
          <p:cNvPr id="13" name="Shape 9"/>
          <p:cNvSpPr/>
          <p:nvPr/>
        </p:nvSpPr>
        <p:spPr>
          <a:xfrm>
            <a:off x="6492240" y="2423160"/>
            <a:ext cx="594360" cy="594360"/>
          </a:xfrm>
          <a:prstGeom prst="ellipse">
            <a:avLst/>
          </a:prstGeom>
          <a:solidFill>
            <a:srgbClr val="E8B92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55117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23760" y="24505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537960" y="31546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the function by writing its name followed by parentheses with any arguments.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be called as many times as needed.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537960" y="42976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square(5)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25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vs. Arguments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— the variable listed in the function definition.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— the actual value passed in when calling the function.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take zero, one, or many parameters.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2194560"/>
            <a:ext cx="5394960" cy="3429000"/>
          </a:xfrm>
          <a:prstGeom prst="roundRect">
            <a:avLst>
              <a:gd name="adj" fmla="val 266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2423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power(base, exponent):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 ** exponent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power(2, 3)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base, exponent = parameters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2, 3 = arguments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3C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13892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5029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it's common (and fine) to use these terms loosely in conversation — most developers do.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Parameter Values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default value in the definition — the caller can then omit that argument.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669280" cy="3291840"/>
          </a:xfrm>
          <a:prstGeom prst="roundRect">
            <a:avLst>
              <a:gd name="adj" fmla="val 2778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108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greet(name, greeting="Hello"):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f"{greeting}, {name}!"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greet("Ana")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Ana!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greet("Ana", "Hi")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Hi, Ana!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92240" y="28803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DECE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31089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69480" y="3127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66560" y="36576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 mutable default (like [] or {})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it's created once and shared across all calls.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add(item, items=None):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items is None: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B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 = []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 &amp; Keyword Arguments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68880"/>
            <a:ext cx="3154680" cy="41148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parameters by order.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16052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16213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describe("Cat", 3)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24028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468880"/>
            <a:ext cx="3154680" cy="41148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explicit name — order doesn't matter.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416052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16213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describe(age=3, name="Cat")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24028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2468880"/>
            <a:ext cx="3154680" cy="41148"/>
          </a:xfrm>
          <a:prstGeom prst="rect">
            <a:avLst/>
          </a:prstGeom>
          <a:solidFill>
            <a:srgbClr val="6D4AAE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6760" y="30632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args must come before keyword args.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66760" y="416052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1621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160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describe("Cat", age=3)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*args — Variable Positional Arguments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any number of extra positional arguments into a tuple.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you don't know in advance how many values will be passed.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args is convention — the * is what matters.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2194560"/>
            <a:ext cx="5669280" cy="3429000"/>
          </a:xfrm>
          <a:prstGeom prst="roundRect">
            <a:avLst>
              <a:gd name="adj" fmla="val 266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246888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total(*args):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sum(args)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total(1, 2, 3)        # 6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total(4, 5, 6, 7, 8)  # 30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total()               # 0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983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function, args behaves like a regular tuple: you can loop over it, index it, or pass it to len().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**kwargs — Variable Keyword Arguments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any number of extra keyword arguments into a dictionary.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flexible APIs where named options may vary.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 a function signature: regular params, *args, **kwargs.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2194560"/>
            <a:ext cx="5669280" cy="3429000"/>
          </a:xfrm>
          <a:prstGeom prst="roundRect">
            <a:avLst>
              <a:gd name="adj" fmla="val 2667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24231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profile(**kwargs):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 v in kwargs.items():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print(f"{k}: {v}")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profile(name="Ana", age=29)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name: Ana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age: 29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8E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983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freely: def fn(a, b, *args, **kwargs) accepts required, extra positional, and extra named arguments together.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Values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value back to the caller and immediately ends the function.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without return implicitly returns None.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return multiple values — Python packs them into a tuple.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after return in the same block never runs.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0" y="2194560"/>
            <a:ext cx="5669280" cy="3840480"/>
          </a:xfrm>
          <a:prstGeom prst="roundRect">
            <a:avLst>
              <a:gd name="adj" fmla="val 2381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242316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min_max(numbers):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min(numbers), max(numbers)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low, high = min_max([4, 9, 1, 7])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print(low, high)  # 1 9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no_return():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print(no_return())  # None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Local, Global &amp; Nonlocal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95728"/>
            <a:ext cx="502920" cy="50292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505456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created inside a function. Exist only while it runs.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4526280"/>
            <a:ext cx="3154680" cy="1371600"/>
          </a:xfrm>
          <a:prstGeom prst="roundRect">
            <a:avLst>
              <a:gd name="adj" fmla="val 4667"/>
            </a:avLst>
          </a:prstGeom>
          <a:solidFill>
            <a:srgbClr val="16213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5262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10  # local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219456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395728"/>
            <a:ext cx="502920" cy="502920"/>
          </a:xfrm>
          <a:prstGeom prst="ellipse">
            <a:avLst/>
          </a:prstGeom>
          <a:solidFill>
            <a:srgbClr val="E8B92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505456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72000" y="30632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defined at module level. Read anywhere; use global to modify inside a function.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0" y="4526280"/>
            <a:ext cx="3154680" cy="1371600"/>
          </a:xfrm>
          <a:prstGeom prst="roundRect">
            <a:avLst>
              <a:gd name="adj" fmla="val 4667"/>
            </a:avLst>
          </a:prstGeom>
          <a:solidFill>
            <a:srgbClr val="16213A"/>
          </a:solidFill>
          <a:ln/>
        </p:spPr>
      </p:sp>
      <p:sp>
        <p:nvSpPr>
          <p:cNvPr id="18" name="Text 14"/>
          <p:cNvSpPr/>
          <p:nvPr/>
        </p:nvSpPr>
        <p:spPr>
          <a:xfrm>
            <a:off x="4709160" y="45262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x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20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38160" y="219456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66760" y="2395728"/>
            <a:ext cx="502920" cy="502920"/>
          </a:xfrm>
          <a:prstGeom prst="ellipse">
            <a:avLst/>
          </a:prstGeom>
          <a:solidFill>
            <a:srgbClr val="6D4AA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505456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06840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Nonlocal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366760" y="30632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a variable in the nearest enclosing function (not global) — used in nested functions.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366760" y="4526280"/>
            <a:ext cx="3154680" cy="1371600"/>
          </a:xfrm>
          <a:prstGeom prst="roundRect">
            <a:avLst>
              <a:gd name="adj" fmla="val 4667"/>
            </a:avLst>
          </a:prstGeom>
          <a:solidFill>
            <a:srgbClr val="16213A"/>
          </a:solidFill>
          <a:ln/>
        </p:spPr>
      </p:sp>
      <p:sp>
        <p:nvSpPr>
          <p:cNvPr id="25" name="Text 20"/>
          <p:cNvSpPr/>
          <p:nvPr/>
        </p:nvSpPr>
        <p:spPr>
          <a:xfrm>
            <a:off x="8503920" y="45262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outer():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1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inner():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nonlocal x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+= 1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Functions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Anonymous, single-expression functions written as: lambda arguments: expression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 keyword — the expression's value is returned automatically.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short, throwaway logic — e.g., as an argument to sorted(), map(), or filter().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035040" y="2194560"/>
            <a:ext cx="5577840" cy="3931920"/>
          </a:xfrm>
          <a:prstGeom prst="roundRect">
            <a:avLst>
              <a:gd name="adj" fmla="val 232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242316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= lambda x: x * 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square(5)  # 25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 named function: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square(x):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* 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["kiwi", "fig", "date"]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sorted(words, key=lambda w: len(w))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212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lambdas for complex logic — readability suffers. Use a def function instead.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function calls itself to solve smaller instances of the same problem.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base case (stopping condition) to avoid infinite recursion.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adds a frame to the call stack — Python's default recursion limit is ~1000.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0" y="2194560"/>
            <a:ext cx="5669280" cy="3931920"/>
          </a:xfrm>
          <a:prstGeom prst="roundRect">
            <a:avLst>
              <a:gd name="adj" fmla="val 232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246888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factorial(n):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1:           # base case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factorial(n - 1)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# recursive case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factorial(5)  # 120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212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recursive solution has an equivalent iterative one — recursion trades loop bookkeeping for cleaner logic.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STYLE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Higher-Order Functions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take other functions as arguments, or return functions as results.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to every item in an iterable.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572000"/>
            <a:ext cx="2331720" cy="1188720"/>
          </a:xfrm>
          <a:prstGeom prst="roundRect">
            <a:avLst>
              <a:gd name="adj" fmla="val 4615"/>
            </a:avLst>
          </a:prstGeom>
          <a:solidFill>
            <a:srgbClr val="1621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map(str.upper, names)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8346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items where the function returns True.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4572000"/>
            <a:ext cx="2331720" cy="1188720"/>
          </a:xfrm>
          <a:prstGeom prst="roundRect">
            <a:avLst>
              <a:gd name="adj" fmla="val 4615"/>
            </a:avLst>
          </a:prstGeom>
          <a:solidFill>
            <a:srgbClr val="1621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filter(lambda x: x &gt; 0, nums)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sorted(key=)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Customizes sort order using a function.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572000"/>
            <a:ext cx="2331720" cy="1188720"/>
          </a:xfrm>
          <a:prstGeom prst="roundRect">
            <a:avLst>
              <a:gd name="adj" fmla="val 4615"/>
            </a:avLst>
          </a:prstGeom>
          <a:solidFill>
            <a:srgbClr val="1621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sorted(people, key=lambda p: p.age)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28346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354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functools.reduce()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items into a single value.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35440" y="4572000"/>
            <a:ext cx="2331720" cy="1188720"/>
          </a:xfrm>
          <a:prstGeom prst="roundRect">
            <a:avLst>
              <a:gd name="adj" fmla="val 4615"/>
            </a:avLst>
          </a:prstGeom>
          <a:solidFill>
            <a:srgbClr val="16213A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4572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reduce(lambda a,b: a+b, nums)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Docstrings &amp; Type Hints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5328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Docstrings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" y="3017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literal right after the def line, describing what the function does. Accessible via help() or .__doc__.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4023360"/>
            <a:ext cx="4846320" cy="1783080"/>
          </a:xfrm>
          <a:prstGeom prst="roundRect">
            <a:avLst>
              <a:gd name="adj" fmla="val 3590"/>
            </a:avLst>
          </a:prstGeom>
          <a:solidFill>
            <a:srgbClr val="16213A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area(r):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area of 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 with radius r."""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3.14159 * r**2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63640" y="224028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37960" y="2423160"/>
            <a:ext cx="457200" cy="457200"/>
          </a:xfrm>
          <a:prstGeom prst="ellipse">
            <a:avLst/>
          </a:prstGeom>
          <a:solidFill>
            <a:srgbClr val="E8B92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5328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Hints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37960" y="3017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annotations indicating expected parameter and return types. Not enforced at runtime, but help readability and tools like mypy.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537960" y="4023360"/>
            <a:ext cx="4846320" cy="1783080"/>
          </a:xfrm>
          <a:prstGeom prst="roundRect">
            <a:avLst>
              <a:gd name="adj" fmla="val 3590"/>
            </a:avLst>
          </a:prstGeom>
          <a:solidFill>
            <a:srgbClr val="16213A"/>
          </a:solidFill>
          <a:ln/>
        </p:spPr>
      </p:sp>
      <p:sp>
        <p:nvSpPr>
          <p:cNvPr id="19" name="Text 14"/>
          <p:cNvSpPr/>
          <p:nvPr/>
        </p:nvSpPr>
        <p:spPr>
          <a:xfrm>
            <a:off x="6720840" y="41148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area(r: float) -&gt; float: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3.14159 * r**2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str = "Ana"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closure is a nested function that remembers variables from its enclosing scope, even after that scope has finished.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function 'closes over' the outer variables.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create function factories and to maintain private state.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0" y="2194560"/>
            <a:ext cx="5669280" cy="3931920"/>
          </a:xfrm>
          <a:prstGeom prst="roundRect">
            <a:avLst>
              <a:gd name="adj" fmla="val 232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246888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make_multiplier(factor):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multiply(n):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 * factor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multiply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= make_multiplier(2)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double(9)  # 18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decorator wraps a function to extend its behavior without changing its code.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closures — it takes a function and returns a new, enhanced function.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with the @decorator_name syntax above a function definition.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logging, timing, access control, caching.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2194560"/>
            <a:ext cx="5669280" cy="4114800"/>
          </a:xfrm>
          <a:prstGeom prst="roundRect">
            <a:avLst>
              <a:gd name="adj" fmla="val 222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24231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log_call(func):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wrapper(*args, **kwargs):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print(f"Calling {func.__name__}")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func(*args, **kwargs)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@log_call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print(f"Hi {name}")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Generators &amp; yield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function uses yield instead of return to produce a sequence of values, one at a time.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pauses at yield and resumes where it left off on the next call.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Memory-efficient — values are computed lazily, not stored all at once.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0" y="2194560"/>
            <a:ext cx="5669280" cy="3931920"/>
          </a:xfrm>
          <a:prstGeom prst="roundRect">
            <a:avLst>
              <a:gd name="adj" fmla="val 232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246888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countdown(n):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 &gt; 0: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-= 1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countdown(3):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F8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print(num)  # 3, 2,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Writing 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3500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functions clear, descriptive, verb-based names (calculate_total, not ct)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273552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33756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2278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function focused on a single task (Single Responsibility)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261104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32511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42153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parameters — group related values into objects or dicts if there are many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5248656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531266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520293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mutable default arguments (lists, dicts)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355080" y="2286000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35000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372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docstring for any non-trivial function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355080" y="3273552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33756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32278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returning values over modifying global state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355080" y="4261104"/>
            <a:ext cx="384048" cy="384048"/>
          </a:xfrm>
          <a:prstGeom prst="ellipse">
            <a:avLst/>
          </a:prstGeom>
          <a:solidFill>
            <a:srgbClr val="30699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325112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03720" y="42153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functions short enough to read on one screen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to Avoid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048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default arguments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[] or {} as a default — shared across calls unexpectedly.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2402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4048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Shadowing built-ins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26280" y="28346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function list, str, or sum overrides Python's built-ins.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22402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40487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3252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return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321040" y="28346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runs but always returns None, causing silent bugs.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2062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708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Overusing global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31520" y="48006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global state makes functions hard to test and reason about.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343400" y="42062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37083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3776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parameters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526280" y="48006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parameter lists are hard to call correctly — group into objects.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8138160" y="42062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37083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3252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docstrings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8321040" y="48006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readers (including you) won't know what the function expects.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function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258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function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7830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f(x=1):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258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53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f(*args):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positional args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2862072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953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f(**kw):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keyword args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2862072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953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a value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41064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325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416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global in function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3941064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40325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nonlocal 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4416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enclosing var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941064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40325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x: x*2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4416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function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020056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1114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val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5495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value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343400" y="5020056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51114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@decorator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26280" y="5495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function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138160" y="5020056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F2D4A"/>
          </a:solidFill>
          <a:ln/>
        </p:spPr>
      </p:sp>
      <p:sp>
        <p:nvSpPr>
          <p:cNvPr id="39" name="Text 37"/>
          <p:cNvSpPr/>
          <p:nvPr/>
        </p:nvSpPr>
        <p:spPr>
          <a:xfrm>
            <a:off x="8321040" y="51114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"""docstring"""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5495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 function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30699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FFD43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34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371600" y="36576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writing functions with parameters, defaults, *args/**kwargs, and a decorator of your own.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82396" y="4663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F2D4A"/>
          </a:solidFill>
          <a:ln/>
        </p:spPr>
      </p:sp>
      <p:sp>
        <p:nvSpPr>
          <p:cNvPr id="9" name="Text 6"/>
          <p:cNvSpPr/>
          <p:nvPr/>
        </p:nvSpPr>
        <p:spPr>
          <a:xfrm>
            <a:off x="1065276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65276" y="5349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with a default arg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48556" y="4663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F2D4A"/>
          </a:solidFill>
          <a:ln/>
        </p:spPr>
      </p:sp>
      <p:sp>
        <p:nvSpPr>
          <p:cNvPr id="12" name="Text 9"/>
          <p:cNvSpPr/>
          <p:nvPr/>
        </p:nvSpPr>
        <p:spPr>
          <a:xfrm>
            <a:off x="4631436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31436" y="5349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*args and **kwargs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14716" y="46634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F2D4A"/>
          </a:solidFill>
          <a:ln/>
        </p:spPr>
      </p:sp>
      <p:sp>
        <p:nvSpPr>
          <p:cNvPr id="15" name="Text 12"/>
          <p:cNvSpPr/>
          <p:nvPr/>
        </p:nvSpPr>
        <p:spPr>
          <a:xfrm>
            <a:off x="8197596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197596" y="5349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decorator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</dc:title>
  <dc:subject>PptxGenJS Presentation</dc:subject>
  <dc:creator>Python Training</dc:creator>
  <cp:lastModifiedBy>Python Training</cp:lastModifiedBy>
  <cp:revision>1</cp:revision>
  <dcterms:created xsi:type="dcterms:W3CDTF">2026-06-21T02:51:03Z</dcterms:created>
  <dcterms:modified xsi:type="dcterms:W3CDTF">2026-06-21T02:51:03Z</dcterms:modified>
</cp:coreProperties>
</file>